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1645920"/>
            <a:ext cx="109728" cy="3474720"/>
          </a:xfrm>
          <a:prstGeom prst="rect">
            <a:avLst/>
          </a:prstGeom>
          <a:solidFill>
            <a:srgbClr val="C5A059"/>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554480"/>
            <a:ext cx="10058400" cy="2743200"/>
          </a:xfrm>
          <a:prstGeom prst="rect">
            <a:avLst/>
          </a:prstGeom>
          <a:noFill/>
        </p:spPr>
        <p:txBody>
          <a:bodyPr wrap="square" lIns="0" rIns="0" tIns="0" bIns="0">
            <a:spAutoFit/>
          </a:bodyPr>
          <a:lstStyle/>
          <a:p>
            <a:pPr>
              <a:spcAft>
                <a:spcPts val="1200"/>
              </a:spcAft>
              <a:defRPr sz="4600" b="1">
                <a:solidFill>
                  <a:srgbClr val="FFFFFF"/>
                </a:solidFill>
                <a:latin typeface="Calibri"/>
              </a:defRPr>
            </a:pPr>
            <a:r>
              <a:t>Instruction Tuning for Educational QA</a:t>
            </a:r>
          </a:p>
          <a:p>
            <a:pPr>
              <a:spcAft>
                <a:spcPts val="2400"/>
              </a:spcAft>
              <a:defRPr sz="2000">
                <a:solidFill>
                  <a:srgbClr val="C5A059"/>
                </a:solidFill>
                <a:latin typeface="Calibri"/>
              </a:defRPr>
            </a:pPr>
            <a:r>
              <a:t>Parameter-Efficient Fine-Tuning of TinyLlama 1.1B on Consumer Hardware</a:t>
            </a:r>
          </a:p>
          <a:p>
            <a:pPr>
              <a:defRPr sz="1400">
                <a:solidFill>
                  <a:srgbClr val="94A3B8"/>
                </a:solidFill>
                <a:latin typeface="Calibri"/>
              </a:defRPr>
            </a:pPr>
            <a:r>
              <a:t>A framework for training and deploying domain-specific educational assistants locally on CPU</a:t>
            </a:r>
          </a:p>
        </p:txBody>
      </p:sp>
      <p:sp>
        <p:nvSpPr>
          <p:cNvPr id="4" name="TextBox 3"/>
          <p:cNvSpPr txBox="1"/>
          <p:nvPr/>
        </p:nvSpPr>
        <p:spPr>
          <a:xfrm>
            <a:off x="1097280" y="5120640"/>
            <a:ext cx="5486400" cy="914400"/>
          </a:xfrm>
          <a:prstGeom prst="rect">
            <a:avLst/>
          </a:prstGeom>
          <a:noFill/>
        </p:spPr>
        <p:txBody>
          <a:bodyPr wrap="none">
            <a:spAutoFit/>
          </a:bodyPr>
          <a:lstStyle/>
          <a:p>
            <a:pPr>
              <a:defRPr sz="1200" b="1">
                <a:solidFill>
                  <a:srgbClr val="FFFFFF"/>
                </a:solidFill>
                <a:latin typeface="Calibri"/>
              </a:defRPr>
            </a:pPr>
            <a:r>
              <a:t>IITM DS AI - Natural Language Processing Project</a:t>
            </a:r>
          </a:p>
          <a:p>
            <a:pPr>
              <a:defRPr sz="1100">
                <a:solidFill>
                  <a:srgbClr val="94A3B8"/>
                </a:solidFill>
                <a:latin typeface="Calibri"/>
              </a:defRPr>
            </a:pPr>
            <a:r>
              <a:t>Methodology: PEFT / LoRA (Low-Rank Adaptation)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274320"/>
          </a:xfrm>
          <a:prstGeom prst="rect">
            <a:avLst/>
          </a:prstGeom>
          <a:noFill/>
        </p:spPr>
        <p:txBody>
          <a:bodyPr wrap="square" lIns="0" rIns="0" tIns="0" bIns="0">
            <a:spAutoFit/>
          </a:bodyPr>
          <a:lstStyle/>
          <a:p>
            <a:pPr>
              <a:defRPr sz="1000" b="1">
                <a:solidFill>
                  <a:srgbClr val="C5A059"/>
                </a:solidFill>
                <a:latin typeface="Calibri"/>
              </a:defRPr>
            </a:pPr>
            <a:r>
              <a:t>PIPELINE &amp; ARCHITECTURE</a:t>
            </a:r>
          </a:p>
        </p:txBody>
      </p:sp>
      <p:sp>
        <p:nvSpPr>
          <p:cNvPr id="3" name="TextBox 2"/>
          <p:cNvSpPr txBox="1"/>
          <p:nvPr/>
        </p:nvSpPr>
        <p:spPr>
          <a:xfrm>
            <a:off x="548640" y="640080"/>
            <a:ext cx="11094415" cy="731520"/>
          </a:xfrm>
          <a:prstGeom prst="rect">
            <a:avLst/>
          </a:prstGeom>
          <a:noFill/>
        </p:spPr>
        <p:txBody>
          <a:bodyPr wrap="square" lIns="0" rIns="0" tIns="0" bIns="0">
            <a:spAutoFit/>
          </a:bodyPr>
          <a:lstStyle/>
          <a:p>
            <a:pPr>
              <a:defRPr sz="3200" b="1">
                <a:solidFill>
                  <a:srgbClr val="0F172A"/>
                </a:solidFill>
                <a:latin typeface="Calibri"/>
              </a:defRPr>
            </a:pPr>
            <a:r>
              <a:t>End-to-End Development Pipeline</a:t>
            </a:r>
          </a:p>
        </p:txBody>
      </p:sp>
      <p:sp>
        <p:nvSpPr>
          <p:cNvPr id="4" name="TextBox 3"/>
          <p:cNvSpPr txBox="1"/>
          <p:nvPr/>
        </p:nvSpPr>
        <p:spPr>
          <a:xfrm>
            <a:off x="548640" y="1371600"/>
            <a:ext cx="11094415" cy="365760"/>
          </a:xfrm>
          <a:prstGeom prst="rect">
            <a:avLst/>
          </a:prstGeom>
          <a:noFill/>
        </p:spPr>
        <p:txBody>
          <a:bodyPr wrap="none">
            <a:spAutoFit/>
          </a:bodyPr>
          <a:lstStyle/>
          <a:p>
            <a:pPr>
              <a:defRPr sz="1500">
                <a:solidFill>
                  <a:srgbClr val="475569"/>
                </a:solidFill>
                <a:latin typeface="Calibri"/>
              </a:defRPr>
            </a:pPr>
            <a:r>
              <a:t>The complete cycle from instruction data engineering to local execution.</a:t>
            </a:r>
          </a:p>
        </p:txBody>
      </p:sp>
      <p:sp>
        <p:nvSpPr>
          <p:cNvPr id="5" name="Rounded Rectangle 4"/>
          <p:cNvSpPr/>
          <p:nvPr/>
        </p:nvSpPr>
        <p:spPr>
          <a:xfrm>
            <a:off x="548640" y="1920240"/>
            <a:ext cx="256032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2560320" cy="109728"/>
          </a:xfrm>
          <a:prstGeom prst="rect">
            <a:avLst/>
          </a:prstGeom>
          <a:solidFill>
            <a:srgbClr val="C5A059"/>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48840"/>
            <a:ext cx="2286000" cy="3749040"/>
          </a:xfrm>
          <a:prstGeom prst="rect">
            <a:avLst/>
          </a:prstGeom>
          <a:noFill/>
        </p:spPr>
        <p:txBody>
          <a:bodyPr wrap="square">
            <a:spAutoFit/>
          </a:bodyPr>
          <a:lstStyle/>
          <a:p>
            <a:pPr>
              <a:spcAft>
                <a:spcPts val="200"/>
              </a:spcAft>
              <a:defRPr sz="2800" b="1">
                <a:solidFill>
                  <a:srgbClr val="C5A059"/>
                </a:solidFill>
                <a:latin typeface="Calibri"/>
              </a:defRPr>
            </a:pPr>
            <a:r>
              <a:t>01</a:t>
            </a:r>
          </a:p>
          <a:p>
            <a:pPr>
              <a:spcAft>
                <a:spcPts val="800"/>
              </a:spcAft>
              <a:defRPr sz="1600" b="1">
                <a:solidFill>
                  <a:srgbClr val="0F172A"/>
                </a:solidFill>
                <a:latin typeface="Calibri"/>
              </a:defRPr>
            </a:pPr>
            <a:r>
              <a:t>Data Engineering</a:t>
            </a:r>
          </a:p>
          <a:p>
            <a:pPr algn="l">
              <a:spcBef>
                <a:spcPts val="300"/>
              </a:spcBef>
              <a:defRPr sz="950">
                <a:solidFill>
                  <a:srgbClr val="475569"/>
                </a:solidFill>
                <a:latin typeface="Calibri"/>
              </a:defRPr>
            </a:pPr>
            <a:r>
              <a:t>• Dataset: tatsu-lab/alpaca on HuggingFace</a:t>
            </a:r>
          </a:p>
          <a:p>
            <a:pPr algn="l">
              <a:spcBef>
                <a:spcPts val="300"/>
              </a:spcBef>
              <a:defRPr sz="950">
                <a:solidFill>
                  <a:srgbClr val="475569"/>
                </a:solidFill>
                <a:latin typeface="Calibri"/>
              </a:defRPr>
            </a:pPr>
            <a:r>
              <a:t>• Subset: 1,000 instruction-following samples</a:t>
            </a:r>
          </a:p>
          <a:p>
            <a:pPr algn="l">
              <a:spcBef>
                <a:spcPts val="300"/>
              </a:spcBef>
              <a:defRPr sz="950">
                <a:solidFill>
                  <a:srgbClr val="475569"/>
                </a:solidFill>
                <a:latin typeface="Calibri"/>
              </a:defRPr>
            </a:pPr>
            <a:r>
              <a:t>• Split: 900 training, 100 evaluation samples</a:t>
            </a:r>
          </a:p>
          <a:p>
            <a:pPr algn="l">
              <a:spcBef>
                <a:spcPts val="300"/>
              </a:spcBef>
              <a:defRPr sz="950">
                <a:solidFill>
                  <a:srgbClr val="475569"/>
                </a:solidFill>
                <a:latin typeface="Calibri"/>
              </a:defRPr>
            </a:pPr>
            <a:r>
              <a:t>• Format: Formatted into Prompt templates: Instruction, Input, and Response</a:t>
            </a:r>
          </a:p>
          <a:p>
            <a:pPr algn="l">
              <a:spcBef>
                <a:spcPts val="300"/>
              </a:spcBef>
              <a:defRPr sz="950">
                <a:solidFill>
                  <a:srgbClr val="475569"/>
                </a:solidFill>
                <a:latin typeface="Calibri"/>
              </a:defRPr>
            </a:pPr>
            <a:r>
              <a:t>• Max Length: 512 tokens (optimized for local memory)</a:t>
            </a:r>
          </a:p>
        </p:txBody>
      </p:sp>
      <p:sp>
        <p:nvSpPr>
          <p:cNvPr id="8" name="Rounded Rectangle 7"/>
          <p:cNvSpPr/>
          <p:nvPr/>
        </p:nvSpPr>
        <p:spPr>
          <a:xfrm>
            <a:off x="3392424" y="1920240"/>
            <a:ext cx="256032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92424" y="1920240"/>
            <a:ext cx="2560320" cy="109728"/>
          </a:xfrm>
          <a:prstGeom prst="rect">
            <a:avLst/>
          </a:prstGeom>
          <a:solidFill>
            <a:srgbClr val="C5A059"/>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9584" y="2148840"/>
            <a:ext cx="2286000" cy="3749040"/>
          </a:xfrm>
          <a:prstGeom prst="rect">
            <a:avLst/>
          </a:prstGeom>
          <a:noFill/>
        </p:spPr>
        <p:txBody>
          <a:bodyPr wrap="square">
            <a:spAutoFit/>
          </a:bodyPr>
          <a:lstStyle/>
          <a:p>
            <a:pPr>
              <a:spcAft>
                <a:spcPts val="200"/>
              </a:spcAft>
              <a:defRPr sz="2800" b="1">
                <a:solidFill>
                  <a:srgbClr val="C5A059"/>
                </a:solidFill>
                <a:latin typeface="Calibri"/>
              </a:defRPr>
            </a:pPr>
            <a:r>
              <a:t>02</a:t>
            </a:r>
          </a:p>
          <a:p>
            <a:pPr>
              <a:spcAft>
                <a:spcPts val="800"/>
              </a:spcAft>
              <a:defRPr sz="1600" b="1">
                <a:solidFill>
                  <a:srgbClr val="0F172A"/>
                </a:solidFill>
                <a:latin typeface="Calibri"/>
              </a:defRPr>
            </a:pPr>
            <a:r>
              <a:t>Model Adaptation</a:t>
            </a:r>
          </a:p>
          <a:p>
            <a:pPr algn="l">
              <a:spcBef>
                <a:spcPts val="300"/>
              </a:spcBef>
              <a:defRPr sz="950">
                <a:solidFill>
                  <a:srgbClr val="475569"/>
                </a:solidFill>
                <a:latin typeface="Calibri"/>
              </a:defRPr>
            </a:pPr>
            <a:r>
              <a:t>• Base model: TinyLlama 1.1B (Chat-v1.0)</a:t>
            </a:r>
          </a:p>
          <a:p>
            <a:pPr algn="l">
              <a:spcBef>
                <a:spcPts val="300"/>
              </a:spcBef>
              <a:defRPr sz="950">
                <a:solidFill>
                  <a:srgbClr val="475569"/>
                </a:solidFill>
                <a:latin typeface="Calibri"/>
              </a:defRPr>
            </a:pPr>
            <a:r>
              <a:t>• Size: 1.1B parameters, decoder-only LLaMA</a:t>
            </a:r>
          </a:p>
          <a:p>
            <a:pPr algn="l">
              <a:spcBef>
                <a:spcPts val="300"/>
              </a:spcBef>
              <a:defRPr sz="950">
                <a:solidFill>
                  <a:srgbClr val="475569"/>
                </a:solidFill>
                <a:latin typeface="Calibri"/>
              </a:defRPr>
            </a:pPr>
            <a:r>
              <a:t>• Adaptation: LoRA (Low-Rank Adaptation) PEFT</a:t>
            </a:r>
          </a:p>
          <a:p>
            <a:pPr algn="l">
              <a:spcBef>
                <a:spcPts val="300"/>
              </a:spcBef>
              <a:defRPr sz="950">
                <a:solidFill>
                  <a:srgbClr val="475569"/>
                </a:solidFill>
                <a:latin typeface="Calibri"/>
              </a:defRPr>
            </a:pPr>
            <a:r>
              <a:t>• Target Modules: q_proj and v_proj</a:t>
            </a:r>
          </a:p>
          <a:p>
            <a:pPr algn="l">
              <a:spcBef>
                <a:spcPts val="300"/>
              </a:spcBef>
              <a:defRPr sz="950">
                <a:solidFill>
                  <a:srgbClr val="475569"/>
                </a:solidFill>
                <a:latin typeface="Calibri"/>
              </a:defRPr>
            </a:pPr>
            <a:r>
              <a:t>• Trainable params: 1.12 Million (only 0.1% of model)</a:t>
            </a:r>
          </a:p>
        </p:txBody>
      </p:sp>
      <p:sp>
        <p:nvSpPr>
          <p:cNvPr id="11" name="Rounded Rectangle 10"/>
          <p:cNvSpPr/>
          <p:nvPr/>
        </p:nvSpPr>
        <p:spPr>
          <a:xfrm>
            <a:off x="6236208" y="1920240"/>
            <a:ext cx="256032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920240"/>
            <a:ext cx="2560320" cy="109728"/>
          </a:xfrm>
          <a:prstGeom prst="rect">
            <a:avLst/>
          </a:prstGeom>
          <a:solidFill>
            <a:srgbClr val="C5A059"/>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2148840"/>
            <a:ext cx="2286000" cy="3749040"/>
          </a:xfrm>
          <a:prstGeom prst="rect">
            <a:avLst/>
          </a:prstGeom>
          <a:noFill/>
        </p:spPr>
        <p:txBody>
          <a:bodyPr wrap="square">
            <a:spAutoFit/>
          </a:bodyPr>
          <a:lstStyle/>
          <a:p>
            <a:pPr>
              <a:spcAft>
                <a:spcPts val="200"/>
              </a:spcAft>
              <a:defRPr sz="2800" b="1">
                <a:solidFill>
                  <a:srgbClr val="C5A059"/>
                </a:solidFill>
                <a:latin typeface="Calibri"/>
              </a:defRPr>
            </a:pPr>
            <a:r>
              <a:t>03</a:t>
            </a:r>
          </a:p>
          <a:p>
            <a:pPr>
              <a:spcAft>
                <a:spcPts val="800"/>
              </a:spcAft>
              <a:defRPr sz="1600" b="1">
                <a:solidFill>
                  <a:srgbClr val="0F172A"/>
                </a:solidFill>
                <a:latin typeface="Calibri"/>
              </a:defRPr>
            </a:pPr>
            <a:r>
              <a:t>CPU-Optimized Training</a:t>
            </a:r>
          </a:p>
          <a:p>
            <a:pPr algn="l">
              <a:spcBef>
                <a:spcPts val="300"/>
              </a:spcBef>
              <a:defRPr sz="950">
                <a:solidFill>
                  <a:srgbClr val="475569"/>
                </a:solidFill>
                <a:latin typeface="Calibri"/>
              </a:defRPr>
            </a:pPr>
            <a:r>
              <a:t>• Device: CPU-only execution (zero GPU required)</a:t>
            </a:r>
          </a:p>
          <a:p>
            <a:pPr algn="l">
              <a:spcBef>
                <a:spcPts val="300"/>
              </a:spcBef>
              <a:defRPr sz="950">
                <a:solidFill>
                  <a:srgbClr val="475569"/>
                </a:solidFill>
                <a:latin typeface="Calibri"/>
              </a:defRPr>
            </a:pPr>
            <a:r>
              <a:t>• Precision: Float32 for model stability on CPU</a:t>
            </a:r>
          </a:p>
          <a:p>
            <a:pPr algn="l">
              <a:spcBef>
                <a:spcPts val="300"/>
              </a:spcBef>
              <a:defRPr sz="950">
                <a:solidFill>
                  <a:srgbClr val="475569"/>
                </a:solidFill>
                <a:latin typeface="Calibri"/>
              </a:defRPr>
            </a:pPr>
            <a:r>
              <a:t>• Batch size: 1 per device with gradient accumulation of 4 (effective batch = 4)</a:t>
            </a:r>
          </a:p>
          <a:p>
            <a:pPr algn="l">
              <a:spcBef>
                <a:spcPts val="300"/>
              </a:spcBef>
              <a:defRPr sz="950">
                <a:solidFill>
                  <a:srgbClr val="475569"/>
                </a:solidFill>
                <a:latin typeface="Calibri"/>
              </a:defRPr>
            </a:pPr>
            <a:r>
              <a:t>• Optimizer: AdamW (PyTorch CPU native)</a:t>
            </a:r>
          </a:p>
          <a:p>
            <a:pPr algn="l">
              <a:spcBef>
                <a:spcPts val="300"/>
              </a:spcBef>
              <a:defRPr sz="950">
                <a:solidFill>
                  <a:srgbClr val="475569"/>
                </a:solidFill>
                <a:latin typeface="Calibri"/>
              </a:defRPr>
            </a:pPr>
            <a:r>
              <a:t>• Technique: Gradient Checkpointing enabled</a:t>
            </a:r>
          </a:p>
        </p:txBody>
      </p:sp>
      <p:sp>
        <p:nvSpPr>
          <p:cNvPr id="14" name="Rounded Rectangle 13"/>
          <p:cNvSpPr/>
          <p:nvPr/>
        </p:nvSpPr>
        <p:spPr>
          <a:xfrm>
            <a:off x="9079992" y="1920240"/>
            <a:ext cx="256032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79992" y="1920240"/>
            <a:ext cx="2560320" cy="109728"/>
          </a:xfrm>
          <a:prstGeom prst="rect">
            <a:avLst/>
          </a:prstGeom>
          <a:solidFill>
            <a:srgbClr val="C5A059"/>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17152" y="2148840"/>
            <a:ext cx="2286000" cy="3749040"/>
          </a:xfrm>
          <a:prstGeom prst="rect">
            <a:avLst/>
          </a:prstGeom>
          <a:noFill/>
        </p:spPr>
        <p:txBody>
          <a:bodyPr wrap="square">
            <a:spAutoFit/>
          </a:bodyPr>
          <a:lstStyle/>
          <a:p>
            <a:pPr>
              <a:spcAft>
                <a:spcPts val="200"/>
              </a:spcAft>
              <a:defRPr sz="2800" b="1">
                <a:solidFill>
                  <a:srgbClr val="C5A059"/>
                </a:solidFill>
                <a:latin typeface="Calibri"/>
              </a:defRPr>
            </a:pPr>
            <a:r>
              <a:t>04</a:t>
            </a:r>
          </a:p>
          <a:p>
            <a:pPr>
              <a:spcAft>
                <a:spcPts val="800"/>
              </a:spcAft>
              <a:defRPr sz="1600" b="1">
                <a:solidFill>
                  <a:srgbClr val="0F172A"/>
                </a:solidFill>
                <a:latin typeface="Calibri"/>
              </a:defRPr>
            </a:pPr>
            <a:r>
              <a:t>Streamlit App</a:t>
            </a:r>
          </a:p>
          <a:p>
            <a:pPr algn="l">
              <a:spcBef>
                <a:spcPts val="300"/>
              </a:spcBef>
              <a:defRPr sz="950">
                <a:solidFill>
                  <a:srgbClr val="475569"/>
                </a:solidFill>
                <a:latin typeface="Calibri"/>
              </a:defRPr>
            </a:pPr>
            <a:r>
              <a:t>• Weights: Adapter output saved to safetensors (~4.5MB)</a:t>
            </a:r>
          </a:p>
          <a:p>
            <a:pPr algn="l">
              <a:spcBef>
                <a:spcPts val="300"/>
              </a:spcBef>
              <a:defRPr sz="950">
                <a:solidFill>
                  <a:srgbClr val="475569"/>
                </a:solidFill>
                <a:latin typeface="Calibri"/>
              </a:defRPr>
            </a:pPr>
            <a:r>
              <a:t>• Interface: Streamlit web interface (app.py)</a:t>
            </a:r>
          </a:p>
          <a:p>
            <a:pPr algn="l">
              <a:spcBef>
                <a:spcPts val="300"/>
              </a:spcBef>
              <a:defRPr sz="950">
                <a:solidFill>
                  <a:srgbClr val="475569"/>
                </a:solidFill>
                <a:latin typeface="Calibri"/>
              </a:defRPr>
            </a:pPr>
            <a:r>
              <a:t>• Loading: Dynamic fallback to checkpoint-25 if final adapter is absent</a:t>
            </a:r>
          </a:p>
          <a:p>
            <a:pPr algn="l">
              <a:spcBef>
                <a:spcPts val="300"/>
              </a:spcBef>
              <a:defRPr sz="950">
                <a:solidFill>
                  <a:srgbClr val="475569"/>
                </a:solidFill>
                <a:latin typeface="Calibri"/>
              </a:defRPr>
            </a:pPr>
            <a:r>
              <a:t>• User prompt: Generates educational QA on the fly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274320"/>
          </a:xfrm>
          <a:prstGeom prst="rect">
            <a:avLst/>
          </a:prstGeom>
          <a:noFill/>
        </p:spPr>
        <p:txBody>
          <a:bodyPr wrap="square" lIns="0" rIns="0" tIns="0" bIns="0">
            <a:spAutoFit/>
          </a:bodyPr>
          <a:lstStyle/>
          <a:p>
            <a:pPr>
              <a:defRPr sz="1000" b="1">
                <a:solidFill>
                  <a:srgbClr val="C5A059"/>
                </a:solidFill>
                <a:latin typeface="Calibri"/>
              </a:defRPr>
            </a:pPr>
            <a:r>
              <a:t>METHOD &amp; PEFT CORE</a:t>
            </a:r>
          </a:p>
        </p:txBody>
      </p:sp>
      <p:sp>
        <p:nvSpPr>
          <p:cNvPr id="3" name="TextBox 2"/>
          <p:cNvSpPr txBox="1"/>
          <p:nvPr/>
        </p:nvSpPr>
        <p:spPr>
          <a:xfrm>
            <a:off x="548640" y="640080"/>
            <a:ext cx="11094415" cy="731520"/>
          </a:xfrm>
          <a:prstGeom prst="rect">
            <a:avLst/>
          </a:prstGeom>
          <a:noFill/>
        </p:spPr>
        <p:txBody>
          <a:bodyPr wrap="square" lIns="0" rIns="0" tIns="0" bIns="0">
            <a:spAutoFit/>
          </a:bodyPr>
          <a:lstStyle/>
          <a:p>
            <a:pPr>
              <a:defRPr sz="3200" b="1">
                <a:solidFill>
                  <a:srgbClr val="0F172A"/>
                </a:solidFill>
                <a:latin typeface="Calibri"/>
              </a:defRPr>
            </a:pPr>
            <a:r>
              <a:t>Methodology: Low-Rank Adaptation (LoRA)</a:t>
            </a:r>
          </a:p>
        </p:txBody>
      </p:sp>
      <p:sp>
        <p:nvSpPr>
          <p:cNvPr id="4" name="TextBox 3"/>
          <p:cNvSpPr txBox="1"/>
          <p:nvPr/>
        </p:nvSpPr>
        <p:spPr>
          <a:xfrm>
            <a:off x="548640" y="1371600"/>
            <a:ext cx="11094415" cy="365760"/>
          </a:xfrm>
          <a:prstGeom prst="rect">
            <a:avLst/>
          </a:prstGeom>
          <a:noFill/>
        </p:spPr>
        <p:txBody>
          <a:bodyPr wrap="none">
            <a:spAutoFit/>
          </a:bodyPr>
          <a:lstStyle/>
          <a:p>
            <a:pPr>
              <a:defRPr sz="1500">
                <a:solidFill>
                  <a:srgbClr val="475569"/>
                </a:solidFill>
                <a:latin typeface="Calibri"/>
              </a:defRPr>
            </a:pPr>
            <a:r>
              <a:t>Reducing trainable parameter count by 99.9% for high-efficiency adaptation on CPU hardware.</a:t>
            </a:r>
          </a:p>
        </p:txBody>
      </p:sp>
      <p:sp>
        <p:nvSpPr>
          <p:cNvPr id="5" name="Rectangle 4"/>
          <p:cNvSpPr/>
          <p:nvPr/>
        </p:nvSpPr>
        <p:spPr>
          <a:xfrm>
            <a:off x="548640" y="1920240"/>
            <a:ext cx="5303520" cy="4206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5303520" cy="91440"/>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94560"/>
            <a:ext cx="4754880" cy="3657600"/>
          </a:xfrm>
          <a:prstGeom prst="rect">
            <a:avLst/>
          </a:prstGeom>
          <a:noFill/>
        </p:spPr>
        <p:txBody>
          <a:bodyPr wrap="square">
            <a:spAutoFit/>
          </a:bodyPr>
          <a:lstStyle/>
          <a:p>
            <a:pPr>
              <a:spcAft>
                <a:spcPts val="1400"/>
              </a:spcAft>
              <a:defRPr sz="2000" b="1">
                <a:solidFill>
                  <a:srgbClr val="0F172A"/>
                </a:solidFill>
                <a:latin typeface="Calibri"/>
              </a:defRPr>
            </a:pPr>
            <a:r>
              <a:t>The Challenge: Full Parameter Tuning</a:t>
            </a:r>
          </a:p>
          <a:p>
            <a:pPr>
              <a:spcBef>
                <a:spcPts val="800"/>
              </a:spcBef>
              <a:defRPr sz="1200">
                <a:solidFill>
                  <a:srgbClr val="475569"/>
                </a:solidFill>
                <a:latin typeface="Calibri"/>
              </a:defRPr>
            </a:pPr>
            <a:r>
              <a:t>• TinyLlama contains 1,101,174,784 parameters.</a:t>
            </a:r>
          </a:p>
          <a:p>
            <a:pPr>
              <a:spcBef>
                <a:spcPts val="800"/>
              </a:spcBef>
              <a:defRPr sz="1200">
                <a:solidFill>
                  <a:srgbClr val="475569"/>
                </a:solidFill>
                <a:latin typeface="Calibri"/>
              </a:defRPr>
            </a:pPr>
            <a:r>
              <a:t>• Full fine-tuning updates every weight tensor, requiring gradients and optimizer states for all 1.1 Billion parameters.</a:t>
            </a:r>
          </a:p>
          <a:p>
            <a:pPr>
              <a:spcBef>
                <a:spcPts val="800"/>
              </a:spcBef>
              <a:defRPr sz="1200">
                <a:solidFill>
                  <a:srgbClr val="475569"/>
                </a:solidFill>
                <a:latin typeface="Calibri"/>
              </a:defRPr>
            </a:pPr>
            <a:r>
              <a:t>• GPU memory requirements exceed 24 GB for full float32 training, making laptop execution completely impossible.</a:t>
            </a:r>
          </a:p>
          <a:p>
            <a:pPr>
              <a:spcBef>
                <a:spcPts val="800"/>
              </a:spcBef>
              <a:defRPr sz="1200">
                <a:solidFill>
                  <a:srgbClr val="475569"/>
                </a:solidFill>
                <a:latin typeface="Calibri"/>
              </a:defRPr>
            </a:pPr>
            <a:r>
              <a:t>• CPU training without modification results in Out-Of-Memory (OOM) errors and extremely slow iteration times.</a:t>
            </a:r>
          </a:p>
        </p:txBody>
      </p:sp>
      <p:sp>
        <p:nvSpPr>
          <p:cNvPr id="8" name="Rectangle 7"/>
          <p:cNvSpPr/>
          <p:nvPr/>
        </p:nvSpPr>
        <p:spPr>
          <a:xfrm>
            <a:off x="6339535" y="1920240"/>
            <a:ext cx="5303520" cy="420624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39535" y="1920240"/>
            <a:ext cx="5303520" cy="91440"/>
          </a:xfrm>
          <a:prstGeom prst="rect">
            <a:avLst/>
          </a:prstGeom>
          <a:solidFill>
            <a:srgbClr val="C5A059"/>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3855" y="2194560"/>
            <a:ext cx="4754880" cy="3657600"/>
          </a:xfrm>
          <a:prstGeom prst="rect">
            <a:avLst/>
          </a:prstGeom>
          <a:noFill/>
        </p:spPr>
        <p:txBody>
          <a:bodyPr wrap="square">
            <a:spAutoFit/>
          </a:bodyPr>
          <a:lstStyle/>
          <a:p>
            <a:pPr>
              <a:spcAft>
                <a:spcPts val="1400"/>
              </a:spcAft>
              <a:defRPr sz="2000" b="1">
                <a:solidFill>
                  <a:srgbClr val="0F172A"/>
                </a:solidFill>
                <a:latin typeface="Calibri"/>
              </a:defRPr>
            </a:pPr>
            <a:r>
              <a:t>The PEFT Solution: Low-Rank Adaptation</a:t>
            </a:r>
          </a:p>
          <a:p>
            <a:pPr>
              <a:spcBef>
                <a:spcPts val="500"/>
              </a:spcBef>
              <a:defRPr sz="1200">
                <a:solidFill>
                  <a:srgbClr val="475569"/>
                </a:solidFill>
                <a:latin typeface="Calibri"/>
              </a:defRPr>
            </a:pPr>
            <a:r>
              <a:t>• Freezes the pre-trained model weights (99.9% of base model remains unchanged).</a:t>
            </a:r>
          </a:p>
          <a:p>
            <a:pPr>
              <a:spcBef>
                <a:spcPts val="500"/>
              </a:spcBef>
              <a:defRPr sz="1200">
                <a:solidFill>
                  <a:srgbClr val="475569"/>
                </a:solidFill>
                <a:latin typeface="Calibri"/>
              </a:defRPr>
            </a:pPr>
            <a:r>
              <a:t>• Injects low-rank trainable decomposition matrices (A and B) into attention layers.</a:t>
            </a:r>
          </a:p>
          <a:p>
            <a:pPr>
              <a:spcBef>
                <a:spcPts val="500"/>
              </a:spcBef>
              <a:defRPr sz="1200">
                <a:solidFill>
                  <a:srgbClr val="475569"/>
                </a:solidFill>
                <a:latin typeface="Calibri"/>
              </a:defRPr>
            </a:pPr>
            <a:r>
              <a:t>• Target Modules: Query projection (q_proj) and Value projection (v_proj).</a:t>
            </a:r>
          </a:p>
          <a:p>
            <a:pPr>
              <a:spcBef>
                <a:spcPts val="500"/>
              </a:spcBef>
              <a:defRPr sz="1200">
                <a:solidFill>
                  <a:srgbClr val="475569"/>
                </a:solidFill>
                <a:latin typeface="Calibri"/>
              </a:defRPr>
            </a:pPr>
            <a:r>
              <a:t>• LoRA Hyperparameters: Rank (r) = 8, Alpha = 16, Dropout = 0.05.</a:t>
            </a:r>
          </a:p>
          <a:p>
            <a:pPr>
              <a:spcBef>
                <a:spcPts val="500"/>
              </a:spcBef>
              <a:defRPr sz="1200">
                <a:solidFill>
                  <a:srgbClr val="475569"/>
                </a:solidFill>
                <a:latin typeface="Calibri"/>
              </a:defRPr>
            </a:pPr>
            <a:r>
              <a:t>• Trainable parameters: 1,126,400 (just 0.1023% of total).</a:t>
            </a:r>
          </a:p>
          <a:p>
            <a:pPr>
              <a:spcBef>
                <a:spcPts val="500"/>
              </a:spcBef>
              <a:defRPr sz="1200">
                <a:solidFill>
                  <a:srgbClr val="475569"/>
                </a:solidFill>
                <a:latin typeface="Calibri"/>
              </a:defRPr>
            </a:pPr>
            <a:r>
              <a:t>• Storage footprint: Lightweight adapters weigh only 4.5 MB on disk.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274320"/>
          </a:xfrm>
          <a:prstGeom prst="rect">
            <a:avLst/>
          </a:prstGeom>
          <a:noFill/>
        </p:spPr>
        <p:txBody>
          <a:bodyPr wrap="square" lIns="0" rIns="0" tIns="0" bIns="0">
            <a:spAutoFit/>
          </a:bodyPr>
          <a:lstStyle/>
          <a:p>
            <a:pPr>
              <a:defRPr sz="1000" b="1">
                <a:solidFill>
                  <a:srgbClr val="C5A059"/>
                </a:solidFill>
                <a:latin typeface="Calibri"/>
              </a:defRPr>
            </a:pPr>
            <a:r>
              <a:t>SETUP &amp; RESULTS</a:t>
            </a:r>
          </a:p>
        </p:txBody>
      </p:sp>
      <p:sp>
        <p:nvSpPr>
          <p:cNvPr id="3" name="TextBox 2"/>
          <p:cNvSpPr txBox="1"/>
          <p:nvPr/>
        </p:nvSpPr>
        <p:spPr>
          <a:xfrm>
            <a:off x="548640" y="640080"/>
            <a:ext cx="11094415" cy="731520"/>
          </a:xfrm>
          <a:prstGeom prst="rect">
            <a:avLst/>
          </a:prstGeom>
          <a:noFill/>
        </p:spPr>
        <p:txBody>
          <a:bodyPr wrap="square" lIns="0" rIns="0" tIns="0" bIns="0">
            <a:spAutoFit/>
          </a:bodyPr>
          <a:lstStyle/>
          <a:p>
            <a:pPr>
              <a:defRPr sz="3200" b="1">
                <a:solidFill>
                  <a:srgbClr val="0F172A"/>
                </a:solidFill>
                <a:latin typeface="Calibri"/>
              </a:defRPr>
            </a:pPr>
            <a:r>
              <a:t>Training Configuration &amp; Loss Performance</a:t>
            </a:r>
          </a:p>
        </p:txBody>
      </p:sp>
      <p:sp>
        <p:nvSpPr>
          <p:cNvPr id="4" name="TextBox 3"/>
          <p:cNvSpPr txBox="1"/>
          <p:nvPr/>
        </p:nvSpPr>
        <p:spPr>
          <a:xfrm>
            <a:off x="548640" y="1371600"/>
            <a:ext cx="11094415" cy="365760"/>
          </a:xfrm>
          <a:prstGeom prst="rect">
            <a:avLst/>
          </a:prstGeom>
          <a:noFill/>
        </p:spPr>
        <p:txBody>
          <a:bodyPr wrap="none">
            <a:spAutoFit/>
          </a:bodyPr>
          <a:lstStyle/>
          <a:p>
            <a:pPr>
              <a:defRPr sz="1500">
                <a:solidFill>
                  <a:srgbClr val="475569"/>
                </a:solidFill>
                <a:latin typeface="Calibri"/>
              </a:defRPr>
            </a:pPr>
            <a:r>
              <a:t>Detailed execution arguments and empirical training loss trends.</a:t>
            </a:r>
          </a:p>
        </p:txBody>
      </p:sp>
      <p:sp>
        <p:nvSpPr>
          <p:cNvPr id="5" name="Rectangle 4"/>
          <p:cNvSpPr/>
          <p:nvPr/>
        </p:nvSpPr>
        <p:spPr>
          <a:xfrm>
            <a:off x="548640" y="1920240"/>
            <a:ext cx="5303520" cy="4206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5303520" cy="914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94560"/>
            <a:ext cx="4754880" cy="3657600"/>
          </a:xfrm>
          <a:prstGeom prst="rect">
            <a:avLst/>
          </a:prstGeom>
          <a:noFill/>
        </p:spPr>
        <p:txBody>
          <a:bodyPr wrap="square">
            <a:spAutoFit/>
          </a:bodyPr>
          <a:lstStyle/>
          <a:p>
            <a:pPr>
              <a:spcAft>
                <a:spcPts val="1200"/>
              </a:spcAft>
              <a:defRPr sz="2000" b="1">
                <a:solidFill>
                  <a:srgbClr val="0F172A"/>
                </a:solidFill>
                <a:latin typeface="Calibri"/>
              </a:defRPr>
            </a:pPr>
            <a:r>
              <a:t>Training Arguments (CPU Optimized)</a:t>
            </a:r>
          </a:p>
          <a:p>
            <a:pPr>
              <a:spcBef>
                <a:spcPts val="600"/>
              </a:spcBef>
              <a:defRPr sz="1200">
                <a:solidFill>
                  <a:srgbClr val="475569"/>
                </a:solidFill>
                <a:latin typeface="Calibri"/>
              </a:defRPr>
            </a:pPr>
            <a:r>
              <a:t>• Device: Forced CPU (use_cpu=True)</a:t>
            </a:r>
          </a:p>
          <a:p>
            <a:pPr>
              <a:spcBef>
                <a:spcPts val="600"/>
              </a:spcBef>
              <a:defRPr sz="1200">
                <a:solidFill>
                  <a:srgbClr val="475569"/>
                </a:solidFill>
                <a:latin typeface="Calibri"/>
              </a:defRPr>
            </a:pPr>
            <a:r>
              <a:t>• Precision: Float32 (no FP16/BF16 on CPU)</a:t>
            </a:r>
          </a:p>
          <a:p>
            <a:pPr>
              <a:spcBef>
                <a:spcPts val="600"/>
              </a:spcBef>
              <a:defRPr sz="1200">
                <a:solidFill>
                  <a:srgbClr val="475569"/>
                </a:solidFill>
                <a:latin typeface="Calibri"/>
              </a:defRPr>
            </a:pPr>
            <a:r>
              <a:t>• Batch Size: 1 sample per device</a:t>
            </a:r>
          </a:p>
          <a:p>
            <a:pPr>
              <a:spcBef>
                <a:spcPts val="600"/>
              </a:spcBef>
              <a:defRPr sz="1200">
                <a:solidFill>
                  <a:srgbClr val="475569"/>
                </a:solidFill>
                <a:latin typeface="Calibri"/>
              </a:defRPr>
            </a:pPr>
            <a:r>
              <a:t>• Gradient Accumulation: 4 steps (Effective Batch Size = 4)</a:t>
            </a:r>
          </a:p>
          <a:p>
            <a:pPr>
              <a:spcBef>
                <a:spcPts val="600"/>
              </a:spcBef>
              <a:defRPr sz="1200">
                <a:solidFill>
                  <a:srgbClr val="475569"/>
                </a:solidFill>
                <a:latin typeface="Calibri"/>
              </a:defRPr>
            </a:pPr>
            <a:r>
              <a:t>• Optimizer: AdamW (PyTorch native CPU)</a:t>
            </a:r>
          </a:p>
          <a:p>
            <a:pPr>
              <a:spcBef>
                <a:spcPts val="600"/>
              </a:spcBef>
              <a:defRPr sz="1200">
                <a:solidFill>
                  <a:srgbClr val="475569"/>
                </a:solidFill>
                <a:latin typeface="Calibri"/>
              </a:defRPr>
            </a:pPr>
            <a:r>
              <a:t>• Learning Rate: 2e-4 (Constant scheduler, Warmup steps = 5)</a:t>
            </a:r>
          </a:p>
          <a:p>
            <a:pPr>
              <a:spcBef>
                <a:spcPts val="600"/>
              </a:spcBef>
              <a:defRPr sz="1200">
                <a:solidFill>
                  <a:srgbClr val="475569"/>
                </a:solidFill>
                <a:latin typeface="Calibri"/>
              </a:defRPr>
            </a:pPr>
            <a:r>
              <a:t>• Gradient Checkpointing: Enabled to minimize CPU RAM</a:t>
            </a:r>
          </a:p>
          <a:p>
            <a:pPr>
              <a:spcBef>
                <a:spcPts val="600"/>
              </a:spcBef>
              <a:defRPr sz="1200">
                <a:solidFill>
                  <a:srgbClr val="475569"/>
                </a:solidFill>
                <a:latin typeface="Calibri"/>
              </a:defRPr>
            </a:pPr>
            <a:r>
              <a:t>• Save Strategy: Saves checkpoint every 25 steps</a:t>
            </a:r>
          </a:p>
        </p:txBody>
      </p:sp>
      <p:sp>
        <p:nvSpPr>
          <p:cNvPr id="8" name="Rectangle 7"/>
          <p:cNvSpPr/>
          <p:nvPr/>
        </p:nvSpPr>
        <p:spPr>
          <a:xfrm>
            <a:off x="6339535" y="1920240"/>
            <a:ext cx="5303520" cy="420624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39535" y="1920240"/>
            <a:ext cx="5303520" cy="91440"/>
          </a:xfrm>
          <a:prstGeom prst="rect">
            <a:avLst/>
          </a:prstGeom>
          <a:solidFill>
            <a:srgbClr val="C5A059"/>
          </a:solidFill>
          <a:ln>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3855" y="2103120"/>
            <a:ext cx="4754880" cy="731520"/>
          </a:xfrm>
          <a:prstGeom prst="rect">
            <a:avLst/>
          </a:prstGeom>
          <a:noFill/>
        </p:spPr>
        <p:txBody>
          <a:bodyPr wrap="none">
            <a:spAutoFit/>
          </a:bodyPr>
          <a:lstStyle/>
          <a:p>
            <a:pPr>
              <a:defRPr sz="2000" b="1">
                <a:solidFill>
                  <a:srgbClr val="0F172A"/>
                </a:solidFill>
                <a:latin typeface="Calibri"/>
              </a:defRPr>
            </a:pPr>
            <a:r>
              <a:t>Empirical Training Loss Metrics</a:t>
            </a:r>
          </a:p>
        </p:txBody>
      </p:sp>
      <p:graphicFrame>
        <p:nvGraphicFramePr>
          <p:cNvPr id="11" name="Table 10"/>
          <p:cNvGraphicFramePr>
            <a:graphicFrameLocks noGrp="1"/>
          </p:cNvGraphicFramePr>
          <p:nvPr/>
        </p:nvGraphicFramePr>
        <p:xfrm>
          <a:off x="6613855" y="2697480"/>
          <a:ext cx="4754880" cy="2926080"/>
        </p:xfrm>
        <a:graphic>
          <a:graphicData uri="http://schemas.openxmlformats.org/drawingml/2006/table">
            <a:tbl>
              <a:tblPr firstRow="1" bandRow="1">
                <a:tableStyleId>{5C22544A-7EE6-4342-B048-85BDC9FD1C3A}</a:tableStyleId>
              </a:tblPr>
              <a:tblGrid>
                <a:gridCol w="1005840"/>
                <a:gridCol w="1097280"/>
                <a:gridCol w="1280160"/>
                <a:gridCol w="1371600"/>
              </a:tblGrid>
              <a:tr h="487680">
                <a:tc>
                  <a:txBody>
                    <a:bodyPr/>
                    <a:lstStyle/>
                    <a:p>
                      <a:pPr algn="ctr">
                        <a:defRPr sz="1100" b="1">
                          <a:solidFill>
                            <a:srgbClr val="FFFFFF"/>
                          </a:solidFill>
                          <a:latin typeface="Calibri"/>
                        </a:defRPr>
                      </a:pPr>
                      <a:r>
                        <a:t>Step</a:t>
                      </a:r>
                    </a:p>
                  </a:txBody>
                  <a:tcPr>
                    <a:solidFill>
                      <a:srgbClr val="0F172A"/>
                    </a:solidFill>
                  </a:tcPr>
                </a:tc>
                <a:tc>
                  <a:txBody>
                    <a:bodyPr/>
                    <a:lstStyle/>
                    <a:p>
                      <a:pPr algn="ctr">
                        <a:defRPr sz="1100" b="1">
                          <a:solidFill>
                            <a:srgbClr val="FFFFFF"/>
                          </a:solidFill>
                          <a:latin typeface="Calibri"/>
                        </a:defRPr>
                      </a:pPr>
                      <a:r>
                        <a:t>Epoch</a:t>
                      </a:r>
                    </a:p>
                  </a:txBody>
                  <a:tcPr>
                    <a:solidFill>
                      <a:srgbClr val="0F172A"/>
                    </a:solidFill>
                  </a:tcPr>
                </a:tc>
                <a:tc>
                  <a:txBody>
                    <a:bodyPr/>
                    <a:lstStyle/>
                    <a:p>
                      <a:pPr algn="ctr">
                        <a:defRPr sz="1100" b="1">
                          <a:solidFill>
                            <a:srgbClr val="FFFFFF"/>
                          </a:solidFill>
                          <a:latin typeface="Calibri"/>
                        </a:defRPr>
                      </a:pPr>
                      <a:r>
                        <a:t>Training Loss</a:t>
                      </a:r>
                    </a:p>
                  </a:txBody>
                  <a:tcPr>
                    <a:solidFill>
                      <a:srgbClr val="0F172A"/>
                    </a:solidFill>
                  </a:tcPr>
                </a:tc>
                <a:tc>
                  <a:txBody>
                    <a:bodyPr/>
                    <a:lstStyle/>
                    <a:p>
                      <a:pPr algn="ctr">
                        <a:defRPr sz="1100" b="1">
                          <a:solidFill>
                            <a:srgbClr val="FFFFFF"/>
                          </a:solidFill>
                          <a:latin typeface="Calibri"/>
                        </a:defRPr>
                      </a:pPr>
                      <a:r>
                        <a:t>Learning Rate</a:t>
                      </a:r>
                    </a:p>
                  </a:txBody>
                  <a:tcPr>
                    <a:solidFill>
                      <a:srgbClr val="0F172A"/>
                    </a:solidFill>
                  </a:tcPr>
                </a:tc>
              </a:tr>
              <a:tr h="487680">
                <a:tc>
                  <a:txBody>
                    <a:bodyPr/>
                    <a:lstStyle/>
                    <a:p>
                      <a:pPr algn="ctr">
                        <a:defRPr sz="1050">
                          <a:solidFill>
                            <a:srgbClr val="475569"/>
                          </a:solidFill>
                          <a:latin typeface="Calibri"/>
                        </a:defRPr>
                      </a:pPr>
                      <a:r>
                        <a:t>5</a:t>
                      </a:r>
                    </a:p>
                  </a:txBody>
                  <a:tcPr>
                    <a:solidFill>
                      <a:srgbClr val="F1F5F9"/>
                    </a:solidFill>
                  </a:tcPr>
                </a:tc>
                <a:tc>
                  <a:txBody>
                    <a:bodyPr/>
                    <a:lstStyle/>
                    <a:p>
                      <a:pPr algn="ctr">
                        <a:defRPr sz="1050">
                          <a:solidFill>
                            <a:srgbClr val="475569"/>
                          </a:solidFill>
                          <a:latin typeface="Calibri"/>
                        </a:defRPr>
                      </a:pPr>
                      <a:r>
                        <a:t>0.022</a:t>
                      </a:r>
                    </a:p>
                  </a:txBody>
                  <a:tcPr>
                    <a:solidFill>
                      <a:srgbClr val="F1F5F9"/>
                    </a:solidFill>
                  </a:tcPr>
                </a:tc>
                <a:tc>
                  <a:txBody>
                    <a:bodyPr/>
                    <a:lstStyle/>
                    <a:p>
                      <a:pPr algn="ctr">
                        <a:defRPr sz="1050" b="1">
                          <a:solidFill>
                            <a:srgbClr val="0F172A"/>
                          </a:solidFill>
                          <a:latin typeface="Calibri"/>
                        </a:defRPr>
                      </a:pPr>
                      <a:r>
                        <a:t>1.8983</a:t>
                      </a:r>
                    </a:p>
                  </a:txBody>
                  <a:tcPr>
                    <a:solidFill>
                      <a:srgbClr val="F1F5F9"/>
                    </a:solidFill>
                  </a:tcPr>
                </a:tc>
                <a:tc>
                  <a:txBody>
                    <a:bodyPr/>
                    <a:lstStyle/>
                    <a:p>
                      <a:pPr algn="ctr">
                        <a:defRPr sz="1050">
                          <a:solidFill>
                            <a:srgbClr val="475569"/>
                          </a:solidFill>
                          <a:latin typeface="Calibri"/>
                        </a:defRPr>
                      </a:pPr>
                      <a:r>
                        <a:t>2.0e-4</a:t>
                      </a:r>
                    </a:p>
                  </a:txBody>
                  <a:tcPr>
                    <a:solidFill>
                      <a:srgbClr val="F1F5F9"/>
                    </a:solidFill>
                  </a:tcPr>
                </a:tc>
              </a:tr>
              <a:tr h="487680">
                <a:tc>
                  <a:txBody>
                    <a:bodyPr/>
                    <a:lstStyle/>
                    <a:p>
                      <a:pPr algn="ctr">
                        <a:defRPr sz="1050">
                          <a:solidFill>
                            <a:srgbClr val="475569"/>
                          </a:solidFill>
                          <a:latin typeface="Calibri"/>
                        </a:defRPr>
                      </a:pPr>
                      <a:r>
                        <a:t>10</a:t>
                      </a:r>
                    </a:p>
                  </a:txBody>
                  <a:tcPr>
                    <a:solidFill>
                      <a:srgbClr val="FFFFFF"/>
                    </a:solidFill>
                  </a:tcPr>
                </a:tc>
                <a:tc>
                  <a:txBody>
                    <a:bodyPr/>
                    <a:lstStyle/>
                    <a:p>
                      <a:pPr algn="ctr">
                        <a:defRPr sz="1050">
                          <a:solidFill>
                            <a:srgbClr val="475569"/>
                          </a:solidFill>
                          <a:latin typeface="Calibri"/>
                        </a:defRPr>
                      </a:pPr>
                      <a:r>
                        <a:t>0.044</a:t>
                      </a:r>
                    </a:p>
                  </a:txBody>
                  <a:tcPr>
                    <a:solidFill>
                      <a:srgbClr val="FFFFFF"/>
                    </a:solidFill>
                  </a:tcPr>
                </a:tc>
                <a:tc>
                  <a:txBody>
                    <a:bodyPr/>
                    <a:lstStyle/>
                    <a:p>
                      <a:pPr algn="ctr">
                        <a:defRPr sz="1050" b="1">
                          <a:solidFill>
                            <a:srgbClr val="0F172A"/>
                          </a:solidFill>
                          <a:latin typeface="Calibri"/>
                        </a:defRPr>
                      </a:pPr>
                      <a:r>
                        <a:t>1.8030</a:t>
                      </a:r>
                    </a:p>
                  </a:txBody>
                  <a:tcPr>
                    <a:solidFill>
                      <a:srgbClr val="FFFFFF"/>
                    </a:solidFill>
                  </a:tcPr>
                </a:tc>
                <a:tc>
                  <a:txBody>
                    <a:bodyPr/>
                    <a:lstStyle/>
                    <a:p>
                      <a:pPr algn="ctr">
                        <a:defRPr sz="1050">
                          <a:solidFill>
                            <a:srgbClr val="475569"/>
                          </a:solidFill>
                          <a:latin typeface="Calibri"/>
                        </a:defRPr>
                      </a:pPr>
                      <a:r>
                        <a:t>2.0e-4</a:t>
                      </a:r>
                    </a:p>
                  </a:txBody>
                  <a:tcPr>
                    <a:solidFill>
                      <a:srgbClr val="FFFFFF"/>
                    </a:solidFill>
                  </a:tcPr>
                </a:tc>
              </a:tr>
              <a:tr h="487680">
                <a:tc>
                  <a:txBody>
                    <a:bodyPr/>
                    <a:lstStyle/>
                    <a:p>
                      <a:pPr algn="ctr">
                        <a:defRPr sz="1050">
                          <a:solidFill>
                            <a:srgbClr val="475569"/>
                          </a:solidFill>
                          <a:latin typeface="Calibri"/>
                        </a:defRPr>
                      </a:pPr>
                      <a:r>
                        <a:t>15</a:t>
                      </a:r>
                    </a:p>
                  </a:txBody>
                  <a:tcPr>
                    <a:solidFill>
                      <a:srgbClr val="F1F5F9"/>
                    </a:solidFill>
                  </a:tcPr>
                </a:tc>
                <a:tc>
                  <a:txBody>
                    <a:bodyPr/>
                    <a:lstStyle/>
                    <a:p>
                      <a:pPr algn="ctr">
                        <a:defRPr sz="1050">
                          <a:solidFill>
                            <a:srgbClr val="475569"/>
                          </a:solidFill>
                          <a:latin typeface="Calibri"/>
                        </a:defRPr>
                      </a:pPr>
                      <a:r>
                        <a:t>0.067</a:t>
                      </a:r>
                    </a:p>
                  </a:txBody>
                  <a:tcPr>
                    <a:solidFill>
                      <a:srgbClr val="F1F5F9"/>
                    </a:solidFill>
                  </a:tcPr>
                </a:tc>
                <a:tc>
                  <a:txBody>
                    <a:bodyPr/>
                    <a:lstStyle/>
                    <a:p>
                      <a:pPr algn="ctr">
                        <a:defRPr sz="1050" b="1">
                          <a:solidFill>
                            <a:srgbClr val="0F172A"/>
                          </a:solidFill>
                          <a:latin typeface="Calibri"/>
                        </a:defRPr>
                      </a:pPr>
                      <a:r>
                        <a:t>1.6545</a:t>
                      </a:r>
                    </a:p>
                  </a:txBody>
                  <a:tcPr>
                    <a:solidFill>
                      <a:srgbClr val="F1F5F9"/>
                    </a:solidFill>
                  </a:tcPr>
                </a:tc>
                <a:tc>
                  <a:txBody>
                    <a:bodyPr/>
                    <a:lstStyle/>
                    <a:p>
                      <a:pPr algn="ctr">
                        <a:defRPr sz="1050">
                          <a:solidFill>
                            <a:srgbClr val="475569"/>
                          </a:solidFill>
                          <a:latin typeface="Calibri"/>
                        </a:defRPr>
                      </a:pPr>
                      <a:r>
                        <a:t>2.0e-4</a:t>
                      </a:r>
                    </a:p>
                  </a:txBody>
                  <a:tcPr>
                    <a:solidFill>
                      <a:srgbClr val="F1F5F9"/>
                    </a:solidFill>
                  </a:tcPr>
                </a:tc>
              </a:tr>
              <a:tr h="487680">
                <a:tc>
                  <a:txBody>
                    <a:bodyPr/>
                    <a:lstStyle/>
                    <a:p>
                      <a:pPr algn="ctr">
                        <a:defRPr sz="1050">
                          <a:solidFill>
                            <a:srgbClr val="475569"/>
                          </a:solidFill>
                          <a:latin typeface="Calibri"/>
                        </a:defRPr>
                      </a:pPr>
                      <a:r>
                        <a:t>20</a:t>
                      </a:r>
                    </a:p>
                  </a:txBody>
                  <a:tcPr>
                    <a:solidFill>
                      <a:srgbClr val="FFFFFF"/>
                    </a:solidFill>
                  </a:tcPr>
                </a:tc>
                <a:tc>
                  <a:txBody>
                    <a:bodyPr/>
                    <a:lstStyle/>
                    <a:p>
                      <a:pPr algn="ctr">
                        <a:defRPr sz="1050">
                          <a:solidFill>
                            <a:srgbClr val="475569"/>
                          </a:solidFill>
                          <a:latin typeface="Calibri"/>
                        </a:defRPr>
                      </a:pPr>
                      <a:r>
                        <a:t>0.089</a:t>
                      </a:r>
                    </a:p>
                  </a:txBody>
                  <a:tcPr>
                    <a:solidFill>
                      <a:srgbClr val="FFFFFF"/>
                    </a:solidFill>
                  </a:tcPr>
                </a:tc>
                <a:tc>
                  <a:txBody>
                    <a:bodyPr/>
                    <a:lstStyle/>
                    <a:p>
                      <a:pPr algn="ctr">
                        <a:defRPr sz="1050" b="1">
                          <a:solidFill>
                            <a:srgbClr val="0F172A"/>
                          </a:solidFill>
                          <a:latin typeface="Calibri"/>
                        </a:defRPr>
                      </a:pPr>
                      <a:r>
                        <a:t>1.4351</a:t>
                      </a:r>
                    </a:p>
                  </a:txBody>
                  <a:tcPr>
                    <a:solidFill>
                      <a:srgbClr val="FFFFFF"/>
                    </a:solidFill>
                  </a:tcPr>
                </a:tc>
                <a:tc>
                  <a:txBody>
                    <a:bodyPr/>
                    <a:lstStyle/>
                    <a:p>
                      <a:pPr algn="ctr">
                        <a:defRPr sz="1050">
                          <a:solidFill>
                            <a:srgbClr val="475569"/>
                          </a:solidFill>
                          <a:latin typeface="Calibri"/>
                        </a:defRPr>
                      </a:pPr>
                      <a:r>
                        <a:t>2.0e-4</a:t>
                      </a:r>
                    </a:p>
                  </a:txBody>
                  <a:tcPr>
                    <a:solidFill>
                      <a:srgbClr val="FFFFFF"/>
                    </a:solidFill>
                  </a:tcPr>
                </a:tc>
              </a:tr>
              <a:tr h="487680">
                <a:tc>
                  <a:txBody>
                    <a:bodyPr/>
                    <a:lstStyle/>
                    <a:p>
                      <a:pPr algn="ctr">
                        <a:defRPr sz="1050">
                          <a:solidFill>
                            <a:srgbClr val="475569"/>
                          </a:solidFill>
                          <a:latin typeface="Calibri"/>
                        </a:defRPr>
                      </a:pPr>
                      <a:r>
                        <a:t>25</a:t>
                      </a:r>
                    </a:p>
                  </a:txBody>
                  <a:tcPr>
                    <a:solidFill>
                      <a:srgbClr val="F1F5F9"/>
                    </a:solidFill>
                  </a:tcPr>
                </a:tc>
                <a:tc>
                  <a:txBody>
                    <a:bodyPr/>
                    <a:lstStyle/>
                    <a:p>
                      <a:pPr algn="ctr">
                        <a:defRPr sz="1050">
                          <a:solidFill>
                            <a:srgbClr val="475569"/>
                          </a:solidFill>
                          <a:latin typeface="Calibri"/>
                        </a:defRPr>
                      </a:pPr>
                      <a:r>
                        <a:t>0.111</a:t>
                      </a:r>
                    </a:p>
                  </a:txBody>
                  <a:tcPr>
                    <a:solidFill>
                      <a:srgbClr val="F1F5F9"/>
                    </a:solidFill>
                  </a:tcPr>
                </a:tc>
                <a:tc>
                  <a:txBody>
                    <a:bodyPr/>
                    <a:lstStyle/>
                    <a:p>
                      <a:pPr algn="ctr">
                        <a:defRPr sz="1050" b="1">
                          <a:solidFill>
                            <a:srgbClr val="0F172A"/>
                          </a:solidFill>
                          <a:latin typeface="Calibri"/>
                        </a:defRPr>
                      </a:pPr>
                      <a:r>
                        <a:t>1.5245</a:t>
                      </a:r>
                    </a:p>
                  </a:txBody>
                  <a:tcPr>
                    <a:solidFill>
                      <a:srgbClr val="F1F5F9"/>
                    </a:solidFill>
                  </a:tcPr>
                </a:tc>
                <a:tc>
                  <a:txBody>
                    <a:bodyPr/>
                    <a:lstStyle/>
                    <a:p>
                      <a:pPr algn="ctr">
                        <a:defRPr sz="1050">
                          <a:solidFill>
                            <a:srgbClr val="475569"/>
                          </a:solidFill>
                          <a:latin typeface="Calibri"/>
                        </a:defRPr>
                      </a:pPr>
                      <a:r>
                        <a:t>2.0e-4</a:t>
                      </a:r>
                    </a:p>
                  </a:txBody>
                  <a:tcPr>
                    <a:solidFill>
                      <a:srgbClr val="F1F5F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640080"/>
            <a:ext cx="11094415" cy="731520"/>
          </a:xfrm>
          <a:prstGeom prst="rect">
            <a:avLst/>
          </a:prstGeom>
          <a:noFill/>
        </p:spPr>
        <p:txBody>
          <a:bodyPr wrap="none">
            <a:spAutoFit/>
          </a:bodyPr>
          <a:lstStyle/>
          <a:p>
            <a:pPr>
              <a:defRPr sz="3200" b="1">
                <a:solidFill>
                  <a:srgbClr val="FFFFFF"/>
                </a:solidFill>
                <a:latin typeface="Calibri"/>
              </a:defRPr>
            </a:pPr>
            <a:r>
              <a:t>Results &amp; Classroom Deployment</a:t>
            </a:r>
          </a:p>
        </p:txBody>
      </p:sp>
      <p:sp>
        <p:nvSpPr>
          <p:cNvPr id="3" name="TextBox 2"/>
          <p:cNvSpPr txBox="1"/>
          <p:nvPr/>
        </p:nvSpPr>
        <p:spPr>
          <a:xfrm>
            <a:off x="548640" y="1280160"/>
            <a:ext cx="11094415" cy="365760"/>
          </a:xfrm>
          <a:prstGeom prst="rect">
            <a:avLst/>
          </a:prstGeom>
          <a:noFill/>
        </p:spPr>
        <p:txBody>
          <a:bodyPr wrap="none">
            <a:spAutoFit/>
          </a:bodyPr>
          <a:lstStyle/>
          <a:p>
            <a:pPr>
              <a:defRPr sz="1600">
                <a:solidFill>
                  <a:srgbClr val="C5A059"/>
                </a:solidFill>
                <a:latin typeface="Calibri"/>
              </a:defRPr>
            </a:pPr>
            <a:r>
              <a:t>Interactive local deployment with highly structured educational responses.</a:t>
            </a:r>
          </a:p>
        </p:txBody>
      </p:sp>
      <p:sp>
        <p:nvSpPr>
          <p:cNvPr id="4" name="Rounded Rectangle 3"/>
          <p:cNvSpPr/>
          <p:nvPr/>
        </p:nvSpPr>
        <p:spPr>
          <a:xfrm>
            <a:off x="548640" y="1828800"/>
            <a:ext cx="5303520" cy="4114800"/>
          </a:xfrm>
          <a:prstGeom prst="roundRect">
            <a:avLst/>
          </a:prstGeom>
          <a:solidFill>
            <a:srgbClr val="1E293B"/>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11680"/>
            <a:ext cx="4754880" cy="3749040"/>
          </a:xfrm>
          <a:prstGeom prst="rect">
            <a:avLst/>
          </a:prstGeom>
          <a:noFill/>
        </p:spPr>
        <p:txBody>
          <a:bodyPr wrap="square">
            <a:spAutoFit/>
          </a:bodyPr>
          <a:lstStyle/>
          <a:p>
            <a:pPr>
              <a:spcAft>
                <a:spcPts val="1000"/>
              </a:spcAft>
              <a:defRPr sz="2000" b="1">
                <a:solidFill>
                  <a:srgbClr val="FFFFFF"/>
                </a:solidFill>
                <a:latin typeface="Calibri"/>
              </a:defRPr>
            </a:pPr>
            <a:r>
              <a:t>Streamlit Web App (app.py)</a:t>
            </a:r>
          </a:p>
          <a:p>
            <a:pPr>
              <a:spcBef>
                <a:spcPts val="600"/>
              </a:spcBef>
              <a:defRPr sz="1150">
                <a:solidFill>
                  <a:srgbClr val="CBD5E1"/>
                </a:solidFill>
                <a:latin typeface="Calibri"/>
              </a:defRPr>
            </a:pPr>
            <a:r>
              <a:t>• Interactive Graphical User Interface (GUI) running in the web browser locally.</a:t>
            </a:r>
          </a:p>
          <a:p>
            <a:pPr>
              <a:spcBef>
                <a:spcPts val="600"/>
              </a:spcBef>
              <a:defRPr sz="1150">
                <a:solidFill>
                  <a:srgbClr val="CBD5E1"/>
                </a:solidFill>
                <a:latin typeface="Calibri"/>
              </a:defRPr>
            </a:pPr>
            <a:r>
              <a:t>• Proactively checks directory for fine-tuned LoRA adapters (final-adapter/ or checkpoint-25/).</a:t>
            </a:r>
          </a:p>
          <a:p>
            <a:pPr>
              <a:spcBef>
                <a:spcPts val="600"/>
              </a:spcBef>
              <a:defRPr sz="1150">
                <a:solidFill>
                  <a:srgbClr val="CBD5E1"/>
                </a:solidFill>
                <a:latin typeface="Calibri"/>
              </a:defRPr>
            </a:pPr>
            <a:r>
              <a:t>• Graceful Fallback: Detects missing adapter directory and auto-loads base TinyLlama model.</a:t>
            </a:r>
          </a:p>
          <a:p>
            <a:pPr>
              <a:spcBef>
                <a:spcPts val="600"/>
              </a:spcBef>
              <a:defRPr sz="1150">
                <a:solidFill>
                  <a:srgbClr val="CBD5E1"/>
                </a:solidFill>
                <a:latin typeface="Calibri"/>
              </a:defRPr>
            </a:pPr>
            <a:r>
              <a:t>• Input interface: Custom prompt text area for entering instructions + context text box.</a:t>
            </a:r>
          </a:p>
          <a:p>
            <a:pPr>
              <a:spcBef>
                <a:spcPts val="600"/>
              </a:spcBef>
              <a:defRPr sz="1150">
                <a:solidFill>
                  <a:srgbClr val="CBD5E1"/>
                </a:solidFill>
                <a:latin typeface="Calibri"/>
              </a:defRPr>
            </a:pPr>
            <a:r>
              <a:t>• GPU-Free Generation: Executes tokenizer and PeftModel inference directly on CPU in under 45s.</a:t>
            </a:r>
          </a:p>
        </p:txBody>
      </p:sp>
      <p:sp>
        <p:nvSpPr>
          <p:cNvPr id="6" name="Rounded Rectangle 5"/>
          <p:cNvSpPr/>
          <p:nvPr/>
        </p:nvSpPr>
        <p:spPr>
          <a:xfrm>
            <a:off x="6339535" y="1828800"/>
            <a:ext cx="530352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3855" y="2011680"/>
            <a:ext cx="4754880" cy="3749040"/>
          </a:xfrm>
          <a:prstGeom prst="rect">
            <a:avLst/>
          </a:prstGeom>
          <a:noFill/>
        </p:spPr>
        <p:txBody>
          <a:bodyPr wrap="square">
            <a:spAutoFit/>
          </a:bodyPr>
          <a:lstStyle/>
          <a:p>
            <a:pPr>
              <a:spcAft>
                <a:spcPts val="1000"/>
              </a:spcAft>
              <a:defRPr sz="2000" b="1">
                <a:solidFill>
                  <a:srgbClr val="0F172A"/>
                </a:solidFill>
                <a:latin typeface="Calibri"/>
              </a:defRPr>
            </a:pPr>
            <a:r>
              <a:t>Sample Inference Performance</a:t>
            </a:r>
          </a:p>
          <a:p>
            <a:pPr>
              <a:spcBef>
                <a:spcPts val="400"/>
              </a:spcBef>
              <a:defRPr sz="1100" b="1">
                <a:solidFill>
                  <a:srgbClr val="C5A059"/>
                </a:solidFill>
                <a:latin typeface="Calibri"/>
              </a:defRPr>
            </a:pPr>
            <a:r>
              <a:t>Instruction (Question):</a:t>
            </a:r>
          </a:p>
          <a:p>
            <a:pPr>
              <a:spcAft>
                <a:spcPts val="800"/>
              </a:spcAft>
              <a:defRPr sz="1200" i="1">
                <a:solidFill>
                  <a:srgbClr val="0F172A"/>
                </a:solidFill>
                <a:latin typeface="Calibri"/>
              </a:defRPr>
            </a:pPr>
            <a:r>
              <a:t>“Explain the process of photosynthesis to a middle school student.”</a:t>
            </a:r>
          </a:p>
          <a:p>
            <a:pPr>
              <a:defRPr sz="1100" b="1">
                <a:solidFill>
                  <a:srgbClr val="2563EB"/>
                </a:solidFill>
                <a:latin typeface="Calibri"/>
              </a:defRPr>
            </a:pPr>
            <a:r>
              <a:t>Fine-Tuned Response Output:</a:t>
            </a:r>
          </a:p>
          <a:p>
            <a:pPr>
              <a:spcBef>
                <a:spcPts val="200"/>
              </a:spcBef>
              <a:defRPr sz="1100">
                <a:solidFill>
                  <a:srgbClr val="475569"/>
                </a:solidFill>
                <a:latin typeface="Calibri"/>
              </a:defRPr>
            </a:pPr>
            <a:r>
              <a:t>“Photosynthesis is the process by which green plants and some other organisms use sunlight to synthesize foods from carbon dioxide and water. Photosynthesis in plants generally involves the green pigment chlorophyll and generates oxygen as a byproduct.</a:t>
            </a:r>
            <a:br/>
            <a:br/>
            <a:r>
              <a:t>Simply put: Plants use solar energy, water, and air to make their own food and release clean air for us to breathe!”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