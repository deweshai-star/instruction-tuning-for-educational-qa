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645920"/>
            <a:ext cx="109728" cy="3474720"/>
          </a:xfrm>
          <a:prstGeom prst="rect">
            <a:avLst/>
          </a:prstGeom>
          <a:solidFill>
            <a:srgbClr val="C5A059"/>
          </a:solidFill>
          <a:ln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0584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Calibri"/>
              </a:defRPr>
            </a:pPr>
            <a:r>
              <a:t>Instruction Tuning for Educational QA</a:t>
            </a:r>
          </a:p>
          <a:p>
            <a:pPr>
              <a:spcAft>
                <a:spcPts val="2400"/>
              </a:spcAft>
              <a:defRPr sz="2000">
                <a:solidFill>
                  <a:srgbClr val="C5A059"/>
                </a:solidFill>
                <a:latin typeface="Calibri"/>
              </a:defRPr>
            </a:pPr>
            <a:r>
              <a:t>Parameter-Efficient Fine-Tuning of TinyLlama 1.1B on Consumer Hardware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Deploying domain-specific educational question-answering systems locally with zero cloud dependence.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12064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IITM DS AI - Natural Language Processing Project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Methodology: PEFT / LoRA (Low-Rank Adaptation)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C5A059"/>
                </a:solidFill>
                <a:latin typeface="Calibri"/>
              </a:defRPr>
            </a:pPr>
            <a:r>
              <a:t>CORE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75569"/>
                </a:solidFill>
                <a:latin typeface="Calibri"/>
              </a:defRPr>
            </a:pPr>
            <a:r>
              <a:t>Key motivations behind training a lightweight model for educational environments.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4747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474720" cy="109728"/>
          </a:xfrm>
          <a:prstGeom prst="rect">
            <a:avLst/>
          </a:prstGeom>
          <a:solidFill>
            <a:srgbClr val="C5A059"/>
          </a:solidFill>
          <a:ln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C5A059"/>
                </a:solidFill>
                <a:latin typeface="Calibri"/>
              </a:defRPr>
            </a:pPr>
            <a:r>
              <a:t>01</a:t>
            </a:r>
          </a:p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  <a:latin typeface="Calibri"/>
              </a:defRPr>
            </a:pPr>
            <a:r>
              <a:t>CPU-Only Accessibility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Remove reliance on expensive GPU hardware.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Make model training and execution feasible on standard consumer laptops with ~6GB RAM.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Provide a cost-effective setup for local institutions and research environments.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20240"/>
            <a:ext cx="34747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52544" y="1920240"/>
            <a:ext cx="3474720" cy="109728"/>
          </a:xfrm>
          <a:prstGeom prst="rect">
            <a:avLst/>
          </a:prstGeom>
          <a:solidFill>
            <a:srgbClr val="C5A059"/>
          </a:solidFill>
          <a:ln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219456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C5A059"/>
                </a:solidFill>
                <a:latin typeface="Calibri"/>
              </a:defRPr>
            </a:pPr>
            <a:r>
              <a:t>02</a:t>
            </a:r>
          </a:p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  <a:latin typeface="Calibri"/>
              </a:defRPr>
            </a:pPr>
            <a:r>
              <a:t>Classroom-Ready Assistance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Fine-tune the model specifically to answer educational queries.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Format responses to be clear, structured, and easy for students to understand.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Encourage domain-specific accuracy and minimize general hallucinations.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6448" y="1920240"/>
            <a:ext cx="34747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56448" y="1920240"/>
            <a:ext cx="3474720" cy="109728"/>
          </a:xfrm>
          <a:prstGeom prst="rect">
            <a:avLst/>
          </a:prstGeom>
          <a:solidFill>
            <a:srgbClr val="C5A059"/>
          </a:solidFill>
          <a:ln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219456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C5A059"/>
                </a:solidFill>
                <a:latin typeface="Calibri"/>
              </a:defRPr>
            </a:pPr>
            <a:r>
              <a:t>03</a:t>
            </a:r>
          </a:p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  <a:latin typeface="Calibri"/>
              </a:defRPr>
            </a:pPr>
            <a:r>
              <a:t>Privacy &amp; Offline Support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Establish a fully offline architecture.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Avoid sending student and teacher data to third-party cloud API services.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Enable deployment in remote areas with limited internet connectivity.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C5A059"/>
                </a:solidFill>
                <a:latin typeface="Calibri"/>
              </a:defRPr>
            </a:pPr>
            <a:r>
              <a:t>DATASET &amp;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Alpaca Instruction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75569"/>
                </a:solidFill>
                <a:latin typeface="Calibri"/>
              </a:defRPr>
            </a:pPr>
            <a:r>
              <a:t>Utilizing Stanford's Alpaca instruction-following dataset for QA formatting.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035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03520" cy="91440"/>
          </a:xfrm>
          <a:prstGeom prst="rect">
            <a:avLst/>
          </a:prstGeom>
          <a:solidFill>
            <a:srgbClr val="475569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Dataset Characteristics</a:t>
            </a:r>
          </a:p>
          <a:p>
            <a:pPr>
              <a:spcBef>
                <a:spcPts val="6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• Source: Stanford's tatsu-lab/alpaca on HuggingFace.</a:t>
            </a:r>
          </a:p>
          <a:p>
            <a:pPr>
              <a:spcBef>
                <a:spcPts val="6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• Total samples: 52,002 instruction-response pairs.</a:t>
            </a:r>
          </a:p>
          <a:p>
            <a:pPr>
              <a:spcBef>
                <a:spcPts val="6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• Subset size: 1,000 samples selected (optimized for laptop CPU resource constraints).</a:t>
            </a:r>
          </a:p>
          <a:p>
            <a:pPr>
              <a:spcBef>
                <a:spcPts val="6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• Split structure: 900 samples (90%) for training, 100 samples (10%) for evaluation.</a:t>
            </a:r>
          </a:p>
          <a:p>
            <a:pPr>
              <a:spcBef>
                <a:spcPts val="6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• Tokenization: LLaMA tokenizer, padding to a maximum sequence length of 512 tokens.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9535" y="1920240"/>
            <a:ext cx="530352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39535" y="1920240"/>
            <a:ext cx="5303520" cy="91440"/>
          </a:xfrm>
          <a:prstGeom prst="rect">
            <a:avLst/>
          </a:prstGeom>
          <a:solidFill>
            <a:srgbClr val="C5A059"/>
          </a:solidFill>
          <a:ln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3855" y="219456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Prompt Format Template</a:t>
            </a:r>
          </a:p>
          <a:p>
            <a:pPr>
              <a:spcAft>
                <a:spcPts val="10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Data points are formatted into structured templates to construct unified context:</a:t>
            </a:r>
          </a:p>
          <a:p>
            <a:pPr>
              <a:spcBef>
                <a:spcPts val="400"/>
              </a:spcBef>
              <a:defRPr sz="1100">
                <a:solidFill>
                  <a:srgbClr val="2563EB"/>
                </a:solidFill>
                <a:latin typeface="Courier New"/>
              </a:defRPr>
            </a:pPr>
            <a:r>
              <a:t>### Instruction:</a:t>
            </a:r>
            <a:br/>
            <a:r>
              <a:t>{instruction}</a:t>
            </a:r>
            <a:br/>
            <a:br/>
            <a:r>
              <a:t>### Input:</a:t>
            </a:r>
            <a:br/>
            <a:r>
              <a:t>{input}    ← (Optional context, omitted if empty)</a:t>
            </a:r>
            <a:br/>
            <a:br/>
            <a:r>
              <a:t>### Response:</a:t>
            </a:r>
            <a:br/>
            <a:r>
              <a:t>{output}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C5A059"/>
                </a:solidFill>
                <a:latin typeface="Calibri"/>
              </a:defRPr>
            </a:pPr>
            <a:r>
              <a:t>WORKFLOW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End-to-End Workflow &amp;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75569"/>
                </a:solidFill>
                <a:latin typeface="Calibri"/>
              </a:defRPr>
            </a:pPr>
            <a:r>
              <a:t>The systemic pipeline from raw data loading to interactive execution.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256032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2560320" cy="109728"/>
          </a:xfrm>
          <a:prstGeom prst="rect">
            <a:avLst/>
          </a:prstGeom>
          <a:solidFill>
            <a:srgbClr val="C5A059"/>
          </a:solidFill>
          <a:ln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22860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C5A059"/>
                </a:solidFill>
                <a:latin typeface="Calibri"/>
              </a:defRPr>
            </a:pPr>
            <a:r>
              <a:t>01</a:t>
            </a:r>
          </a:p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Data Prep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• Download Alpaca subset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• Inject instruction template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• Tokenize using LLaMA tokenizer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• Apply padding &amp; truncate length to 512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2424" y="1920240"/>
            <a:ext cx="256032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92424" y="1920240"/>
            <a:ext cx="2560320" cy="109728"/>
          </a:xfrm>
          <a:prstGeom prst="rect">
            <a:avLst/>
          </a:prstGeom>
          <a:solidFill>
            <a:srgbClr val="C5A059"/>
          </a:solidFill>
          <a:ln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9584" y="2148840"/>
            <a:ext cx="22860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C5A059"/>
                </a:solidFill>
                <a:latin typeface="Calibri"/>
              </a:defRPr>
            </a:pPr>
            <a:r>
              <a:t>02</a:t>
            </a:r>
          </a:p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PEFT Configuration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• Load base TinyLlama 1.1B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• Freeze 99.9% of base model weights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• Apply LoRA adapters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• Target q_proj &amp; v_proj (r=8, alpha=16)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920240"/>
            <a:ext cx="256032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6208" y="1920240"/>
            <a:ext cx="2560320" cy="109728"/>
          </a:xfrm>
          <a:prstGeom prst="rect">
            <a:avLst/>
          </a:prstGeom>
          <a:solidFill>
            <a:srgbClr val="C5A059"/>
          </a:solidFill>
          <a:ln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2148840"/>
            <a:ext cx="22860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C5A059"/>
                </a:solidFill>
                <a:latin typeface="Calibri"/>
              </a:defRPr>
            </a:pPr>
            <a:r>
              <a:t>03</a:t>
            </a:r>
          </a:p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CPU-Only Training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• PyTorch CPU-only runtime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• Use Float32 training precision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• Enable Gradient Checkpointing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• Apply AdamW (Effective Batch Size = 4)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79992" y="1920240"/>
            <a:ext cx="256032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79992" y="1920240"/>
            <a:ext cx="2560320" cy="109728"/>
          </a:xfrm>
          <a:prstGeom prst="rect">
            <a:avLst/>
          </a:prstGeom>
          <a:solidFill>
            <a:srgbClr val="C5A059"/>
          </a:solidFill>
          <a:ln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17152" y="2148840"/>
            <a:ext cx="22860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C5A059"/>
                </a:solidFill>
                <a:latin typeface="Calibri"/>
              </a:defRPr>
            </a:pPr>
            <a:r>
              <a:t>04</a:t>
            </a:r>
          </a:p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Local Web UI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• Save adapter weights (~4.5MB)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• Integrate with Streamlit App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• Auto-detect adapter directory checkpoints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• Generate response on CPU in browser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C5A059"/>
                </a:solidFill>
                <a:latin typeface="Calibri"/>
              </a:defRPr>
            </a:pPr>
            <a:r>
              <a:t>CHALLENGES &amp;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Development Challenges &amp; Key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75569"/>
                </a:solidFill>
                <a:latin typeface="Calibri"/>
              </a:defRPr>
            </a:pPr>
            <a:r>
              <a:t>Overcoming hardware bottlenecks and path resolution errors on local client machines.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035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03520" cy="91440"/>
          </a:xfrm>
          <a:prstGeom prst="rect">
            <a:avLst/>
          </a:prstGeom>
          <a:solidFill>
            <a:srgbClr val="475569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1. Severe CPU Memory Constraints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Challenge: Loading a 1.1B model and performing backpropagation consumes huge RAM, causing standard CPUs to throw Out-Of-Memory (OOM) errors.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Solution: Enabled gradient checkpointing to discard intermediate activations.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Solution: Used Parameter-Efficient Fine-Tuning (PEFT) with LoRA, shrinking trainable parameters to 0.1% (~1.12M), lowering peak RAM to ~6 GB.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Solution: Restricted training batch size to 1, while using gradient accumulation of 4 steps to maintain training stability.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9535" y="1920240"/>
            <a:ext cx="530352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39535" y="1920240"/>
            <a:ext cx="5303520" cy="91440"/>
          </a:xfrm>
          <a:prstGeom prst="rect">
            <a:avLst/>
          </a:prstGeom>
          <a:solidFill>
            <a:srgbClr val="C5A059"/>
          </a:solidFill>
          <a:ln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3855" y="219456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2. Path Resolution &amp; Fallback Crashes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Challenge: If the final-adapter weight directory was absent, the script attempted to download it from Hugging Face, crashing with a HFValidationError.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Solution: Refactored paths in both app.py and inference.py to verify local folder existence recursively.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Solution: Implemented fallback logic to load intermediate checkpoints (like checkpoint-25/) if the final adapter is missing.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Solution: Added safety fallback to the base TinyLlama model, ensuring the app starts gracefully even without any adapters.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C5A059"/>
                </a:solidFill>
                <a:latin typeface="Calibri"/>
              </a:defRPr>
            </a:pPr>
            <a:r>
              <a:t>RESULTS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Empirical Results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75569"/>
                </a:solidFill>
                <a:latin typeface="Calibri"/>
              </a:defRPr>
            </a:pPr>
            <a:r>
              <a:t>Analyzing model convergence metrics and summarizing project takeaways.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035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03520" cy="91440"/>
          </a:xfrm>
          <a:prstGeom prst="rect">
            <a:avLst/>
          </a:prstGeom>
          <a:solidFill>
            <a:srgbClr val="475569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Calibri"/>
              </a:defRPr>
            </a:pPr>
            <a:r>
              <a:t>Loss Convergence Table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2651760"/>
          <a:ext cx="4754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64592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Epoch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Training Loss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0.022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1.8983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0.044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1.8030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0.067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1.6545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0.089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1.4351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0.111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1.5245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339535" y="1920240"/>
            <a:ext cx="530352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39535" y="1920240"/>
            <a:ext cx="5303520" cy="91440"/>
          </a:xfrm>
          <a:prstGeom prst="rect">
            <a:avLst/>
          </a:prstGeom>
          <a:solidFill>
            <a:srgbClr val="C5A059"/>
          </a:solidFill>
          <a:ln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13855" y="219456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Key Project Takeaways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Feasibility Proven: Fine-tuning a 1.1B parameter model on a standard CPU is completely viable with LoRA adapters.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Loss Convergence: Loss consistently decreased from 1.90 to 1.43, indicating the model successfully learned specific instruction structures.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Zero Cloud Cost: Avoided expensive cloud GPU endpoints while maintaining a low disk space overhead (~4.5MB adapters).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Offline Ready: Achieved private local execution with robust fallbacks, suitable for remote classrooms.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C5A059"/>
                </a:solidFill>
                <a:latin typeface="Calibri"/>
              </a:defRPr>
            </a:pPr>
            <a:r>
              <a:t>FUTURE HORIZONS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75569"/>
                </a:solidFill>
                <a:latin typeface="Calibri"/>
              </a:defRPr>
            </a:pPr>
            <a:r>
              <a:t>Proposed research expansions to scale capabilities and models.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4747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474720" cy="109728"/>
          </a:xfrm>
          <a:prstGeom prst="rect">
            <a:avLst/>
          </a:prstGeom>
          <a:solidFill>
            <a:srgbClr val="C5A059"/>
          </a:solidFill>
          <a:ln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C5A059"/>
                </a:solidFill>
                <a:latin typeface="Calibri"/>
              </a:defRPr>
            </a:pPr>
            <a:r>
              <a:t>01</a:t>
            </a:r>
          </a:p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  <a:latin typeface="Calibri"/>
              </a:defRPr>
            </a:pPr>
            <a:r>
              <a:t>Scale Dataset &amp; Length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Increase the training subset from 1k to 10k+ instruction samples.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Extend maximum context length from 512 to 2048 tokens to support textbook-length chapters.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Include specialized subjects like STEM and Coding in dataset.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20240"/>
            <a:ext cx="34747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52544" y="1920240"/>
            <a:ext cx="3474720" cy="109728"/>
          </a:xfrm>
          <a:prstGeom prst="rect">
            <a:avLst/>
          </a:prstGeom>
          <a:solidFill>
            <a:srgbClr val="C5A059"/>
          </a:solidFill>
          <a:ln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219456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C5A059"/>
                </a:solidFill>
                <a:latin typeface="Calibri"/>
              </a:defRPr>
            </a:pPr>
            <a:r>
              <a:t>02</a:t>
            </a:r>
          </a:p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  <a:latin typeface="Calibri"/>
              </a:defRPr>
            </a:pPr>
            <a:r>
              <a:t>Quantized Larger Models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Fine-tune larger models (e.g. Qwen-2.5-7B or Gemma-2-9B).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Use llama.cpp or CPU bitsandbytes (4-bit/8-bit quantization) to run larger models under laptop constraints.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Benchmark trade-offs between speed and model parameter scale.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6448" y="1920240"/>
            <a:ext cx="34747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56448" y="1920240"/>
            <a:ext cx="3474720" cy="109728"/>
          </a:xfrm>
          <a:prstGeom prst="rect">
            <a:avLst/>
          </a:prstGeom>
          <a:solidFill>
            <a:srgbClr val="C5A059"/>
          </a:solidFill>
          <a:ln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219456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C5A059"/>
                </a:solidFill>
                <a:latin typeface="Calibri"/>
              </a:defRPr>
            </a:pPr>
            <a:r>
              <a:t>03</a:t>
            </a:r>
          </a:p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  <a:latin typeface="Calibri"/>
              </a:defRPr>
            </a:pPr>
            <a:r>
              <a:t>RAG Syllabus Integration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Incorporate Retrieval-Augmented Generation (RAG).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Allow teachers to upload classroom PDFs/syllabi locally.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• Let the model ground its answers in the uploaded files, reducing generic hallucinations.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GitHub Repository &amp; Setup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5A059"/>
                </a:solidFill>
                <a:latin typeface="Calibri"/>
              </a:defRPr>
            </a:pPr>
            <a:r>
              <a:t>Open source code structure and execution guide.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30352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47548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Repository Details &amp; Setup</a:t>
            </a:r>
          </a:p>
          <a:p>
            <a:pPr>
              <a:defRPr sz="1100" b="1">
                <a:solidFill>
                  <a:srgbClr val="C5A059"/>
                </a:solidFill>
                <a:latin typeface="Calibri"/>
              </a:defRPr>
            </a:pPr>
            <a:r>
              <a:t>GitHub URL:</a:t>
            </a:r>
          </a:p>
          <a:p>
            <a:pPr>
              <a:spcAft>
                <a:spcPts val="800"/>
              </a:spcAft>
              <a:defRPr sz="1150">
                <a:solidFill>
                  <a:srgbClr val="FFFFFF"/>
                </a:solidFill>
                <a:latin typeface="Calibri"/>
              </a:defRPr>
            </a:pPr>
            <a:r>
              <a:t>https://github.com/deweshai-star/Instruction-Tuning-for-Educational-QA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Courier New"/>
              </a:defRPr>
            </a:pPr>
            <a:r>
              <a:t>1. Clone Project:</a:t>
            </a:r>
            <a:br/>
            <a:r>
              <a:t>   git clone https://github.com/deweshai-star/Instruction-Tuning-for-Educational-QA.git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Courier New"/>
              </a:defRPr>
            </a:pPr>
            <a:r>
              <a:t>2. Create Virtualenv &amp; Install:</a:t>
            </a:r>
            <a:br/>
            <a:r>
              <a:t>   python -m venv venv</a:t>
            </a:r>
            <a:br/>
            <a:r>
              <a:t>   .\venv\Scripts\activate</a:t>
            </a:r>
            <a:br/>
            <a:r>
              <a:t>   pip install -r requirements.txt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Courier New"/>
              </a:defRPr>
            </a:pPr>
            <a:r>
              <a:t>3. Run Web App:</a:t>
            </a:r>
            <a:br/>
            <a:r>
              <a:t>   streamlit run app.py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828800"/>
            <a:ext cx="53035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13855" y="2011680"/>
            <a:ext cx="47548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File Structure Specifications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data_prep.py: Ingests, formats, and tokenizes subset.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train.py: Loads TinyLlama, applies LoRA, executes training loop.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inference.py: Interactive command-line testing script.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app.py: Streamlit local deployment GUI with fallbacks.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architecture.md: Comprehensive technical system overview.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• generate_ppt.py: Programmatic layout specifications for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